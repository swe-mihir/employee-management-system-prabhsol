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E02"/>
    <a:srgbClr val="FF8D37"/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9E321-99E7-E4BA-D8B2-6C58CB0EC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A6436-6A05-6277-C7E1-47E54FB859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6F82E-8C6D-D79D-BEE4-526B9E342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71DD-12C5-E2E8-A291-C9ED77DE8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91D01-8D4B-4E32-E64F-40759E3D2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128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9DC35-E644-1484-42BA-5D19C2AE3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F556D-5308-CD3F-AC58-1E6A4E20A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89781-26B6-B5DB-EBAC-8DD1A0F41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1E3E6-BF9D-8FBB-6426-46E875A0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449486-9417-B4B4-1CCE-60A4D4450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1406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C5EBF-9070-0C71-7A6B-B462F800E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CEB2F1-5EF5-0588-E7D6-785BD1C6E9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E8656-95ED-D34C-B3C3-5EBDDAFB4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37BC84-7A14-1BCC-D822-9F3B5945B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AB630E-DE3E-A267-FEA7-E9DE67842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547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76DCB-EFF9-0E00-CC9C-C8DEA03F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C58AC-26BA-CC90-8ECF-2DF57385D5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0BD944-FE54-C472-9FE7-0471DA57B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1036E-9962-6DCB-01FD-1FC7A633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4AB6EF-85AD-562B-3595-F54D6F1E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FBF4BB-A5C4-7255-52C8-D2C2858AC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259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5161B-06DF-BCA1-E77D-BCA29BF7B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C0003-D656-BD89-349D-F8FB3A75B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78FA0-5E84-F0FA-5CDC-718382958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0C0B4B-AED9-2673-A30E-2304239D67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E75277-2EB2-06C8-6DE7-E4831573DF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7EC474-B3B8-89FD-5B56-3F0C06755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CC9B37-2310-0931-8430-99116B1A1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3D826A-4F15-1954-3273-9D3F8BA16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6838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1CC50-F463-688B-71CC-B6A4322E1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3582FA-DF89-DB0F-2C74-447722B8E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AA2BDC-B121-2A66-A9A2-264659202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41FF1-99CE-1D79-4CF1-8F42810AF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063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F6BEA4-F50B-D90F-7488-B1389C3B2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FE0F8-E2AE-2972-5F87-90B69858E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D8357C-4725-0AC1-413C-71659E96D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3699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79EF3-1050-DE78-416F-C5E1307A0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04C0B-9B68-F80F-BB0F-00023C60C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3CE1D0-778D-7B9E-9240-7457B10D46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C84CD1-5FC2-446E-47AA-78146950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498F9-9750-C185-8363-D2DD0129A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F28311-D0A4-CFBF-6A6E-B63556F00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0194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1A44A-EF21-3DEE-EF1F-60410D748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00CD81-8536-5026-F7BE-364F93E9A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41F6A-33B6-0551-B033-A4EB733236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9D8CE-2F4A-B286-212F-46932AA1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4B1CF3-BC6F-3F45-5929-9A5E0AF82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98CE3-4391-C2CC-426E-3CE24DCA7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820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B0137-19F1-716F-D29B-2298F0E1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8B1715-9826-294F-F9C6-BAA7508ED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186C86-F19E-38A0-88DB-9D03E9B7C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8F7B6-0892-ADC9-C09F-CC70A6FCF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53716-A71D-1056-BA72-0B79330C6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5750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21E34A-8641-EDF7-BF39-939BD39AF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A59A51-9FAD-C549-BD80-6D37FDEA5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59B68-C4E8-CE8B-3F53-93507D9AA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19E27-8780-4D03-684E-1A18C6A44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05E9B-7632-ACE0-7B33-5D25EC216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785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BBCE3-0658-5C31-CEBB-64F6B2E90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0CBC38-2E95-257D-A683-26D6F18B44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87CEDB-39BD-3A33-F42A-C67AFC6FE7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5069A1-986F-417B-B4C2-5BD1BF3375D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89CC7-EA9F-67C2-8578-372FEF63C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D3C8B-FAA5-E37F-F456-CBE868C13C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1858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AD6B282-9B58-3B11-481B-4B3B3619E09E}"/>
              </a:ext>
            </a:extLst>
          </p:cNvPr>
          <p:cNvGrpSpPr/>
          <p:nvPr/>
        </p:nvGrpSpPr>
        <p:grpSpPr>
          <a:xfrm>
            <a:off x="4359519" y="879230"/>
            <a:ext cx="3472962" cy="4589585"/>
            <a:chOff x="4255477" y="967153"/>
            <a:chExt cx="3472962" cy="4589585"/>
          </a:xfrm>
          <a:solidFill>
            <a:schemeClr val="bg2"/>
          </a:solidFill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99CE2BF-6A8C-4CC9-24A8-C6F0ABFFDFA2}"/>
                </a:ext>
              </a:extLst>
            </p:cNvPr>
            <p:cNvSpPr/>
            <p:nvPr/>
          </p:nvSpPr>
          <p:spPr>
            <a:xfrm>
              <a:off x="4255477" y="967153"/>
              <a:ext cx="3472962" cy="4589585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9BF575B-DB48-C702-B1F7-43641A696683}"/>
                </a:ext>
              </a:extLst>
            </p:cNvPr>
            <p:cNvSpPr/>
            <p:nvPr/>
          </p:nvSpPr>
          <p:spPr>
            <a:xfrm>
              <a:off x="4774224" y="2224454"/>
              <a:ext cx="2224453" cy="272561"/>
            </a:xfrm>
            <a:prstGeom prst="roundRect">
              <a:avLst/>
            </a:prstGeom>
            <a:solidFill>
              <a:srgbClr val="FF6E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519B3B1-C1FB-C68A-6D0D-E28FEA6EE4D2}"/>
                </a:ext>
              </a:extLst>
            </p:cNvPr>
            <p:cNvSpPr/>
            <p:nvPr/>
          </p:nvSpPr>
          <p:spPr>
            <a:xfrm>
              <a:off x="5380892" y="3313236"/>
              <a:ext cx="975948" cy="272561"/>
            </a:xfrm>
            <a:prstGeom prst="roundRect">
              <a:avLst/>
            </a:prstGeom>
            <a:solidFill>
              <a:srgbClr val="FF6E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Login</a:t>
              </a:r>
              <a:endParaRPr lang="en-IN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2ED385-9E84-180A-9056-C7C18AEC5D30}"/>
                </a:ext>
              </a:extLst>
            </p:cNvPr>
            <p:cNvSpPr txBox="1"/>
            <p:nvPr/>
          </p:nvSpPr>
          <p:spPr>
            <a:xfrm>
              <a:off x="4774223" y="1814202"/>
              <a:ext cx="145952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Username</a:t>
              </a:r>
              <a:endParaRPr lang="en-IN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0A7B1A-5CBC-0A15-559C-A8A813DD4815}"/>
                </a:ext>
              </a:extLst>
            </p:cNvPr>
            <p:cNvSpPr txBox="1"/>
            <p:nvPr/>
          </p:nvSpPr>
          <p:spPr>
            <a:xfrm>
              <a:off x="4774223" y="2511559"/>
              <a:ext cx="145952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Password</a:t>
              </a:r>
              <a:endParaRPr lang="en-IN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DAC0E1-651D-B1D3-8B2A-21F4E2B8307F}"/>
                </a:ext>
              </a:extLst>
            </p:cNvPr>
            <p:cNvSpPr/>
            <p:nvPr/>
          </p:nvSpPr>
          <p:spPr>
            <a:xfrm>
              <a:off x="4774223" y="2801815"/>
              <a:ext cx="2224453" cy="272561"/>
            </a:xfrm>
            <a:prstGeom prst="roundRect">
              <a:avLst/>
            </a:prstGeom>
            <a:solidFill>
              <a:srgbClr val="FF6E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2" name="Picture 2" descr="Logo">
            <a:extLst>
              <a:ext uri="{FF2B5EF4-FFF2-40B4-BE49-F238E27FC236}">
                <a16:creationId xmlns:a16="http://schemas.microsoft.com/office/drawing/2014/main" id="{52EE5EC2-6592-5DC9-F199-605622E8BA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811" y="1056338"/>
            <a:ext cx="2093360" cy="683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2236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B5B3FAD-2B2B-4EF2-E065-5CDB328873E1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AE19F5D-DDE1-5E7B-BB64-7C77A19B40AA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D942652-AB22-812E-1BED-C68506B8A1F8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656DA534-E73F-8A2F-3C6A-F5876450EBE4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DED0CE-06E1-613D-4450-7A2B2B603FBC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1F7AAFE-A85E-A1CD-DE69-F105E3CB91EB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3DC8312-DD3B-31EF-D576-42D58CD2BA2C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1026" name="Picture 2" descr="Logo">
              <a:extLst>
                <a:ext uri="{FF2B5EF4-FFF2-40B4-BE49-F238E27FC236}">
                  <a16:creationId xmlns:a16="http://schemas.microsoft.com/office/drawing/2014/main" id="{D0F55F58-47C6-928B-5BC5-98BF8DFD48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453370B-5972-3583-F0AD-D0E4C4CE5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765808"/>
              </p:ext>
            </p:extLst>
          </p:nvPr>
        </p:nvGraphicFramePr>
        <p:xfrm>
          <a:off x="105509" y="451046"/>
          <a:ext cx="240909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57BDD5-ABC8-1F8F-A30B-E17D8207CF30}"/>
              </a:ext>
            </a:extLst>
          </p:cNvPr>
          <p:cNvSpPr txBox="1"/>
          <p:nvPr/>
        </p:nvSpPr>
        <p:spPr>
          <a:xfrm>
            <a:off x="7142285" y="-2358952"/>
            <a:ext cx="15525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(Role)</a:t>
            </a:r>
            <a:endParaRPr lang="en-IN" sz="16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378B63-5B28-CF0A-0B1E-CE2801561F04}"/>
              </a:ext>
            </a:extLst>
          </p:cNvPr>
          <p:cNvSpPr/>
          <p:nvPr/>
        </p:nvSpPr>
        <p:spPr>
          <a:xfrm>
            <a:off x="2857500" y="677008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Total Employee</a:t>
            </a:r>
            <a:endParaRPr lang="en-IN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7B347D7-4006-4BF1-F0A8-2F448800AD8F}"/>
              </a:ext>
            </a:extLst>
          </p:cNvPr>
          <p:cNvSpPr/>
          <p:nvPr/>
        </p:nvSpPr>
        <p:spPr>
          <a:xfrm>
            <a:off x="4346331" y="677007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Present Today</a:t>
            </a:r>
            <a:endParaRPr lang="en-IN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8217CC1-2CC3-8A84-5D0D-BBC4C4583979}"/>
              </a:ext>
            </a:extLst>
          </p:cNvPr>
          <p:cNvSpPr/>
          <p:nvPr/>
        </p:nvSpPr>
        <p:spPr>
          <a:xfrm>
            <a:off x="5835162" y="677006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Absent Today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91D55D-BEF4-FFE2-FE25-D700515AA25B}"/>
              </a:ext>
            </a:extLst>
          </p:cNvPr>
          <p:cNvSpPr/>
          <p:nvPr/>
        </p:nvSpPr>
        <p:spPr>
          <a:xfrm>
            <a:off x="7323993" y="677005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leave Today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8FAA7D6-43B3-54A0-CFE7-EE6716DEDCB4}"/>
              </a:ext>
            </a:extLst>
          </p:cNvPr>
          <p:cNvSpPr/>
          <p:nvPr/>
        </p:nvSpPr>
        <p:spPr>
          <a:xfrm>
            <a:off x="8812824" y="677004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Monthly Payroll Cost</a:t>
            </a:r>
            <a:endParaRPr lang="en-IN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010CFC7-53C7-EFC1-A27D-FE79B7B8B730}"/>
              </a:ext>
            </a:extLst>
          </p:cNvPr>
          <p:cNvSpPr/>
          <p:nvPr/>
        </p:nvSpPr>
        <p:spPr>
          <a:xfrm>
            <a:off x="10301655" y="677003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Upcoming Salary Payment Date</a:t>
            </a:r>
            <a:endParaRPr lang="en-IN" sz="1600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60CE5B5-244C-CD86-442A-230223D820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417862"/>
              </p:ext>
            </p:extLst>
          </p:nvPr>
        </p:nvGraphicFramePr>
        <p:xfrm>
          <a:off x="2857500" y="1659108"/>
          <a:ext cx="3628292" cy="2194560"/>
        </p:xfrm>
        <a:graphic>
          <a:graphicData uri="http://schemas.openxmlformats.org/drawingml/2006/table">
            <a:tbl>
              <a:tblPr/>
              <a:tblGrid>
                <a:gridCol w="1814146">
                  <a:extLst>
                    <a:ext uri="{9D8B030D-6E8A-4147-A177-3AD203B41FA5}">
                      <a16:colId xmlns:a16="http://schemas.microsoft.com/office/drawing/2014/main" val="1523671467"/>
                    </a:ext>
                  </a:extLst>
                </a:gridCol>
                <a:gridCol w="1814146">
                  <a:extLst>
                    <a:ext uri="{9D8B030D-6E8A-4147-A177-3AD203B41FA5}">
                      <a16:colId xmlns:a16="http://schemas.microsoft.com/office/drawing/2014/main" val="66067128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Attendance (daily)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1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Present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30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Absent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607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Leave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911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Late Arrivals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938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Early Departures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554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730ECF-09CA-1849-8301-11120C4068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977369"/>
              </p:ext>
            </p:extLst>
          </p:nvPr>
        </p:nvGraphicFramePr>
        <p:xfrm>
          <a:off x="7822222" y="1659107"/>
          <a:ext cx="3628292" cy="2194557"/>
        </p:xfrm>
        <a:graphic>
          <a:graphicData uri="http://schemas.openxmlformats.org/drawingml/2006/table">
            <a:tbl>
              <a:tblPr/>
              <a:tblGrid>
                <a:gridCol w="1814146">
                  <a:extLst>
                    <a:ext uri="{9D8B030D-6E8A-4147-A177-3AD203B41FA5}">
                      <a16:colId xmlns:a16="http://schemas.microsoft.com/office/drawing/2014/main" val="2172427733"/>
                    </a:ext>
                  </a:extLst>
                </a:gridCol>
                <a:gridCol w="1814146">
                  <a:extLst>
                    <a:ext uri="{9D8B030D-6E8A-4147-A177-3AD203B41FA5}">
                      <a16:colId xmlns:a16="http://schemas.microsoft.com/office/drawing/2014/main" val="2444885094"/>
                    </a:ext>
                  </a:extLst>
                </a:gridCol>
              </a:tblGrid>
              <a:tr h="381662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Payroll (monthly)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840271"/>
                  </a:ext>
                </a:extLst>
              </a:tr>
              <a:tr h="3816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Gross Salary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₹4,25,000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153401"/>
                  </a:ext>
                </a:extLst>
              </a:tr>
              <a:tr h="3816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Deductions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₹32,000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01985"/>
                  </a:ext>
                </a:extLst>
              </a:tr>
              <a:tr h="3816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Net Payable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₹3,93,000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414348"/>
                  </a:ext>
                </a:extLst>
              </a:tr>
              <a:tr h="6679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Employees Processed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83133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300BA28-1AF1-35FB-7AB0-33B1D55F10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468161"/>
              </p:ext>
            </p:extLst>
          </p:nvPr>
        </p:nvGraphicFramePr>
        <p:xfrm>
          <a:off x="2857500" y="4158761"/>
          <a:ext cx="3628292" cy="1371600"/>
        </p:xfrm>
        <a:graphic>
          <a:graphicData uri="http://schemas.openxmlformats.org/drawingml/2006/table">
            <a:tbl>
              <a:tblPr/>
              <a:tblGrid>
                <a:gridCol w="1814146">
                  <a:extLst>
                    <a:ext uri="{9D8B030D-6E8A-4147-A177-3AD203B41FA5}">
                      <a16:colId xmlns:a16="http://schemas.microsoft.com/office/drawing/2014/main" val="1523671467"/>
                    </a:ext>
                  </a:extLst>
                </a:gridCol>
                <a:gridCol w="1814146">
                  <a:extLst>
                    <a:ext uri="{9D8B030D-6E8A-4147-A177-3AD203B41FA5}">
                      <a16:colId xmlns:a16="http://schemas.microsoft.com/office/drawing/2014/main" val="66067128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Leave Approvals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1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Pending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4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30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Next Week Leaves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607699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F97A122B-62F3-3096-3969-75E14E435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256324"/>
              </p:ext>
            </p:extLst>
          </p:nvPr>
        </p:nvGraphicFramePr>
        <p:xfrm>
          <a:off x="7822222" y="4158761"/>
          <a:ext cx="3628292" cy="1828800"/>
        </p:xfrm>
        <a:graphic>
          <a:graphicData uri="http://schemas.openxmlformats.org/drawingml/2006/table">
            <a:tbl>
              <a:tblPr/>
              <a:tblGrid>
                <a:gridCol w="3628292">
                  <a:extLst>
                    <a:ext uri="{9D8B030D-6E8A-4147-A177-3AD203B41FA5}">
                      <a16:colId xmlns:a16="http://schemas.microsoft.com/office/drawing/2014/main" val="15236714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Activity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1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Sachin marked attendance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30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Salary generated for May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481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New employee added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7302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Leave request approved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972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660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079A093-1ECA-9DF6-5B41-7D8FDE1A6895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6FEA185-A744-99F4-3969-259755C3239F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E39AD13-5E59-5E66-BB7D-1A3E55ADA895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CB9B73F-C402-5AF0-C41C-3ECFF715A857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8FEA2B10-C9FD-A71C-167A-95234A605C4B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88503A1D-CDAC-9E51-A890-AB66B13A8F94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8D38EF2-3650-6145-3C09-7EEB5162B1DD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47" name="Picture 2" descr="Logo">
              <a:extLst>
                <a:ext uri="{FF2B5EF4-FFF2-40B4-BE49-F238E27FC236}">
                  <a16:creationId xmlns:a16="http://schemas.microsoft.com/office/drawing/2014/main" id="{DEDED808-0447-71FF-3778-5EBBF3C64C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05909D12-6384-F9B7-3C83-9876DB450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161370"/>
              </p:ext>
            </p:extLst>
          </p:nvPr>
        </p:nvGraphicFramePr>
        <p:xfrm>
          <a:off x="2738906" y="1943928"/>
          <a:ext cx="9150835" cy="3708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3435">
                  <a:extLst>
                    <a:ext uri="{9D8B030D-6E8A-4147-A177-3AD203B41FA5}">
                      <a16:colId xmlns:a16="http://schemas.microsoft.com/office/drawing/2014/main" val="1210232517"/>
                    </a:ext>
                  </a:extLst>
                </a:gridCol>
                <a:gridCol w="1274884">
                  <a:extLst>
                    <a:ext uri="{9D8B030D-6E8A-4147-A177-3AD203B41FA5}">
                      <a16:colId xmlns:a16="http://schemas.microsoft.com/office/drawing/2014/main" val="2871490174"/>
                    </a:ext>
                  </a:extLst>
                </a:gridCol>
                <a:gridCol w="2866293">
                  <a:extLst>
                    <a:ext uri="{9D8B030D-6E8A-4147-A177-3AD203B41FA5}">
                      <a16:colId xmlns:a16="http://schemas.microsoft.com/office/drawing/2014/main" val="260237388"/>
                    </a:ext>
                  </a:extLst>
                </a:gridCol>
                <a:gridCol w="2436056">
                  <a:extLst>
                    <a:ext uri="{9D8B030D-6E8A-4147-A177-3AD203B41FA5}">
                      <a16:colId xmlns:a16="http://schemas.microsoft.com/office/drawing/2014/main" val="2710548523"/>
                    </a:ext>
                  </a:extLst>
                </a:gridCol>
                <a:gridCol w="1830167">
                  <a:extLst>
                    <a:ext uri="{9D8B030D-6E8A-4147-A177-3AD203B41FA5}">
                      <a16:colId xmlns:a16="http://schemas.microsoft.com/office/drawing/2014/main" val="3465381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Sr. No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 Code</a:t>
                      </a:r>
                      <a:r>
                        <a:rPr lang="en-US" sz="1100" dirty="0"/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Designation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Actions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20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View ◦◦◦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4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62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254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3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326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5565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91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6614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435071"/>
                  </a:ext>
                </a:extLst>
              </a:tr>
            </a:tbl>
          </a:graphicData>
        </a:graphic>
      </p:graphicFrame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22B4EBE-FE40-DA06-E75A-B3F00F5D3799}"/>
              </a:ext>
            </a:extLst>
          </p:cNvPr>
          <p:cNvSpPr/>
          <p:nvPr/>
        </p:nvSpPr>
        <p:spPr>
          <a:xfrm>
            <a:off x="10588479" y="626327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</a:t>
            </a:r>
            <a:endParaRPr lang="en-IN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FA4A53B-242B-ECA1-EE3C-348F0F735D06}"/>
              </a:ext>
            </a:extLst>
          </p:cNvPr>
          <p:cNvSpPr/>
          <p:nvPr/>
        </p:nvSpPr>
        <p:spPr>
          <a:xfrm>
            <a:off x="10588479" y="1300892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D92A0BA-D862-731C-6ADB-B535CAD17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51856"/>
              </p:ext>
            </p:extLst>
          </p:nvPr>
        </p:nvGraphicFramePr>
        <p:xfrm>
          <a:off x="3116976" y="626327"/>
          <a:ext cx="10423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2373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Current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Left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All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</a:tbl>
          </a:graphicData>
        </a:graphic>
      </p:graphicFrame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253B2DF-4813-55CD-1CFC-C0623315213E}"/>
              </a:ext>
            </a:extLst>
          </p:cNvPr>
          <p:cNvSpPr/>
          <p:nvPr/>
        </p:nvSpPr>
        <p:spPr>
          <a:xfrm>
            <a:off x="10588479" y="6109944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</a:t>
            </a:r>
            <a:endParaRPr lang="en-IN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61C51AF-D6FD-89E3-01CB-2EE0D42B226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0230" t="261" b="333"/>
          <a:stretch>
            <a:fillRect/>
          </a:stretch>
        </p:blipFill>
        <p:spPr>
          <a:xfrm rot="16200000">
            <a:off x="7195441" y="1253440"/>
            <a:ext cx="237768" cy="9150836"/>
          </a:xfrm>
          <a:prstGeom prst="rect">
            <a:avLst/>
          </a:prstGeom>
        </p:spPr>
      </p:pic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95D1AFD5-C924-8E04-E015-83EDA4B1B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48514"/>
              </p:ext>
            </p:extLst>
          </p:nvPr>
        </p:nvGraphicFramePr>
        <p:xfrm>
          <a:off x="106096" y="452338"/>
          <a:ext cx="240909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sp>
        <p:nvSpPr>
          <p:cNvPr id="51" name="Oval 50">
            <a:extLst>
              <a:ext uri="{FF2B5EF4-FFF2-40B4-BE49-F238E27FC236}">
                <a16:creationId xmlns:a16="http://schemas.microsoft.com/office/drawing/2014/main" id="{08B6FB68-8356-8641-B18B-89E2BE6BDA8F}"/>
              </a:ext>
            </a:extLst>
          </p:cNvPr>
          <p:cNvSpPr/>
          <p:nvPr/>
        </p:nvSpPr>
        <p:spPr>
          <a:xfrm>
            <a:off x="2910099" y="712706"/>
            <a:ext cx="198081" cy="1980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C99BB00-F0D9-EA05-8B0A-82F206DAF295}"/>
              </a:ext>
            </a:extLst>
          </p:cNvPr>
          <p:cNvSpPr/>
          <p:nvPr/>
        </p:nvSpPr>
        <p:spPr>
          <a:xfrm>
            <a:off x="2918895" y="1086068"/>
            <a:ext cx="198081" cy="1980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EDD7D75-CE50-BEBE-17F6-FC16722E71DF}"/>
              </a:ext>
            </a:extLst>
          </p:cNvPr>
          <p:cNvSpPr/>
          <p:nvPr/>
        </p:nvSpPr>
        <p:spPr>
          <a:xfrm>
            <a:off x="2927691" y="1459430"/>
            <a:ext cx="198081" cy="1980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978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3611CC-1F43-658A-3C77-169E18DE556C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FDABA3D-F6E8-5E34-BCA5-48D6B22ED1DD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AFFB4BD-1CE0-681A-B5ED-CA9ABED8C75C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F70441B-E21E-E772-32EE-60D25FFE7678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B13630F-6B06-8021-2A1C-6FC0D25C2B92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83DF0E7-AB91-2E49-85D7-881AEF782B7E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021A1BC-D19E-8C4A-F61D-5A2A45DF7D00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2" descr="Logo">
              <a:extLst>
                <a:ext uri="{FF2B5EF4-FFF2-40B4-BE49-F238E27FC236}">
                  <a16:creationId xmlns:a16="http://schemas.microsoft.com/office/drawing/2014/main" id="{E019EF18-7B0E-E2A5-B896-AE3C5FF732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F98978-54E8-94CF-49B6-70D9952FE4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3181235"/>
              </p:ext>
            </p:extLst>
          </p:nvPr>
        </p:nvGraphicFramePr>
        <p:xfrm>
          <a:off x="114305" y="439614"/>
          <a:ext cx="240909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  <a:gridCol w="2200810">
                  <a:extLst>
                    <a:ext uri="{9D8B030D-6E8A-4147-A177-3AD203B41FA5}">
                      <a16:colId xmlns:a16="http://schemas.microsoft.com/office/drawing/2014/main" val="1642768885"/>
                    </a:ext>
                  </a:extLst>
                </a:gridCol>
              </a:tblGrid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2574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Report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498648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DDBE583-62F3-A790-C5A6-8FE4DA92C2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09305"/>
              </p:ext>
            </p:extLst>
          </p:nvPr>
        </p:nvGraphicFramePr>
        <p:xfrm>
          <a:off x="2738319" y="1942636"/>
          <a:ext cx="9150840" cy="35243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6866">
                  <a:extLst>
                    <a:ext uri="{9D8B030D-6E8A-4147-A177-3AD203B41FA5}">
                      <a16:colId xmlns:a16="http://schemas.microsoft.com/office/drawing/2014/main" val="1210232517"/>
                    </a:ext>
                  </a:extLst>
                </a:gridCol>
                <a:gridCol w="1350844">
                  <a:extLst>
                    <a:ext uri="{9D8B030D-6E8A-4147-A177-3AD203B41FA5}">
                      <a16:colId xmlns:a16="http://schemas.microsoft.com/office/drawing/2014/main" val="2871490174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260237388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2710548523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1050172073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3961288916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1344009629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3465381752"/>
                    </a:ext>
                  </a:extLst>
                </a:gridCol>
              </a:tblGrid>
              <a:tr h="66848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Sr. No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 </a:t>
                      </a:r>
                      <a:r>
                        <a:rPr lang="en-US" sz="1100" dirty="0"/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Shift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Status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Clock in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Clock out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Required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Actual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2093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4173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62375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25490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319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277233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0979002E-D322-29D1-1D34-B61FDDE719E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0230" t="261" b="333"/>
          <a:stretch>
            <a:fillRect/>
          </a:stretch>
        </p:blipFill>
        <p:spPr>
          <a:xfrm rot="16200000">
            <a:off x="7194854" y="1252148"/>
            <a:ext cx="237768" cy="9150836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96674D7-EB7F-AD28-CD77-9B7D06EEE4AF}"/>
              </a:ext>
            </a:extLst>
          </p:cNvPr>
          <p:cNvSpPr/>
          <p:nvPr/>
        </p:nvSpPr>
        <p:spPr>
          <a:xfrm>
            <a:off x="10587892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Refresh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584825-8162-639E-9D0C-062E6BF26A4E}"/>
              </a:ext>
            </a:extLst>
          </p:cNvPr>
          <p:cNvSpPr/>
          <p:nvPr/>
        </p:nvSpPr>
        <p:spPr>
          <a:xfrm>
            <a:off x="10587892" y="137324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023DC19-E0DA-DA45-EA6F-959E59B60AAC}"/>
              </a:ext>
            </a:extLst>
          </p:cNvPr>
          <p:cNvSpPr/>
          <p:nvPr/>
        </p:nvSpPr>
        <p:spPr>
          <a:xfrm>
            <a:off x="2738319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Today</a:t>
            </a:r>
            <a:endParaRPr lang="en-IN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D1424F0-BDD8-33CA-E2A0-533C47500F0C}"/>
              </a:ext>
            </a:extLst>
          </p:cNvPr>
          <p:cNvSpPr/>
          <p:nvPr/>
        </p:nvSpPr>
        <p:spPr>
          <a:xfrm>
            <a:off x="4174396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444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E67905C-7CC7-9A21-7F0C-35EF7CD64C8C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29BFFBF-CF40-FA92-5826-6F5178656551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8F2C2E-0B73-1523-30C5-8086E219186F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E1105A8-660E-38D6-FDD0-4D13AE7EC848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EABB645-C32A-0236-E047-635911DE078E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8EDB742-A7D9-67A4-AE2E-06823D6252A6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72D2B64-BEA4-BF86-940B-2BC9222372D5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2" descr="Logo">
              <a:extLst>
                <a:ext uri="{FF2B5EF4-FFF2-40B4-BE49-F238E27FC236}">
                  <a16:creationId xmlns:a16="http://schemas.microsoft.com/office/drawing/2014/main" id="{C7CDE2C4-2B59-D7BE-D34F-4453996FF3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4D2D663-59BA-92C3-2A80-8DE14865A9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66223"/>
              </p:ext>
            </p:extLst>
          </p:nvPr>
        </p:nvGraphicFramePr>
        <p:xfrm>
          <a:off x="2738319" y="1988805"/>
          <a:ext cx="9136027" cy="3495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1210232517"/>
                    </a:ext>
                  </a:extLst>
                </a:gridCol>
                <a:gridCol w="834265">
                  <a:extLst>
                    <a:ext uri="{9D8B030D-6E8A-4147-A177-3AD203B41FA5}">
                      <a16:colId xmlns:a16="http://schemas.microsoft.com/office/drawing/2014/main" val="1504369650"/>
                    </a:ext>
                  </a:extLst>
                </a:gridCol>
                <a:gridCol w="765082">
                  <a:extLst>
                    <a:ext uri="{9D8B030D-6E8A-4147-A177-3AD203B41FA5}">
                      <a16:colId xmlns:a16="http://schemas.microsoft.com/office/drawing/2014/main" val="287149017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55057962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932969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5036143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38018614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75860571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28147275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6634954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4898783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02006824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1205254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37867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3370723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0253064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26433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709146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3663241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3159117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0797916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7888824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153261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05323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6462053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0258663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35984122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9443170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5983911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8271862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1441933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7547445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6710745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40127641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1774153493"/>
                    </a:ext>
                  </a:extLst>
                </a:gridCol>
              </a:tblGrid>
              <a:tr h="56688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Sr. No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Emp code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 </a:t>
                      </a:r>
                      <a:r>
                        <a:rPr lang="en-US" sz="1100" dirty="0"/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Days Paid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2093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4173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62375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25490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319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354098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621D41DE-1D6C-8194-4604-18DCDD7EED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0230" t="261" b="333"/>
          <a:stretch>
            <a:fillRect/>
          </a:stretch>
        </p:blipFill>
        <p:spPr>
          <a:xfrm rot="16200000">
            <a:off x="7194854" y="1252148"/>
            <a:ext cx="237768" cy="9150836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1658686-3936-54D6-1792-155AFE67EE6F}"/>
              </a:ext>
            </a:extLst>
          </p:cNvPr>
          <p:cNvSpPr/>
          <p:nvPr/>
        </p:nvSpPr>
        <p:spPr>
          <a:xfrm>
            <a:off x="10587892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Refresh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8E2E9-BBA1-0480-E632-3918882F26C2}"/>
              </a:ext>
            </a:extLst>
          </p:cNvPr>
          <p:cNvSpPr/>
          <p:nvPr/>
        </p:nvSpPr>
        <p:spPr>
          <a:xfrm>
            <a:off x="10587892" y="137324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E847954-432A-147C-381D-4F5DC16CA2C3}"/>
              </a:ext>
            </a:extLst>
          </p:cNvPr>
          <p:cNvSpPr/>
          <p:nvPr/>
        </p:nvSpPr>
        <p:spPr>
          <a:xfrm>
            <a:off x="2738319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Today</a:t>
            </a:r>
            <a:endParaRPr lang="en-IN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6612B92-B3AA-914D-3168-C7D54D7ED322}"/>
              </a:ext>
            </a:extLst>
          </p:cNvPr>
          <p:cNvSpPr/>
          <p:nvPr/>
        </p:nvSpPr>
        <p:spPr>
          <a:xfrm>
            <a:off x="4174396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Date</a:t>
            </a:r>
            <a:endParaRPr lang="en-IN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EAD9DAD-9411-534A-C71E-CCCBA768F9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39403"/>
              </p:ext>
            </p:extLst>
          </p:nvPr>
        </p:nvGraphicFramePr>
        <p:xfrm>
          <a:off x="114305" y="439614"/>
          <a:ext cx="240909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  <a:gridCol w="2200810">
                  <a:extLst>
                    <a:ext uri="{9D8B030D-6E8A-4147-A177-3AD203B41FA5}">
                      <a16:colId xmlns:a16="http://schemas.microsoft.com/office/drawing/2014/main" val="1642768885"/>
                    </a:ext>
                  </a:extLst>
                </a:gridCol>
              </a:tblGrid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2574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Report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498648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825478DF-CDFB-82BA-AAC9-8B747D553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578250"/>
              </p:ext>
            </p:extLst>
          </p:nvPr>
        </p:nvGraphicFramePr>
        <p:xfrm>
          <a:off x="7409959" y="625036"/>
          <a:ext cx="1741856" cy="1257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10799">
                  <a:extLst>
                    <a:ext uri="{9D8B030D-6E8A-4147-A177-3AD203B41FA5}">
                      <a16:colId xmlns:a16="http://schemas.microsoft.com/office/drawing/2014/main" val="1343517416"/>
                    </a:ext>
                  </a:extLst>
                </a:gridCol>
                <a:gridCol w="1131057">
                  <a:extLst>
                    <a:ext uri="{9D8B030D-6E8A-4147-A177-3AD203B41FA5}">
                      <a16:colId xmlns:a16="http://schemas.microsoft.com/office/drawing/2014/main" val="2416083599"/>
                    </a:ext>
                  </a:extLst>
                </a:gridCol>
              </a:tblGrid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Present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4898757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Absent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1027251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SL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Sick Leave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9048320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Paid Leave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5282490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>
                          <a:solidFill>
                            <a:srgbClr val="FFFF00"/>
                          </a:solidFill>
                          <a:highlight>
                            <a:srgbClr val="FFFF00"/>
                          </a:highlight>
                        </a:rPr>
                        <a:t>----</a:t>
                      </a:r>
                      <a:r>
                        <a:rPr lang="en-IN" sz="1050" dirty="0">
                          <a:highlight>
                            <a:srgbClr val="FFFF00"/>
                          </a:highlight>
                        </a:rPr>
                        <a:t>  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Weekly Holiday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8032338"/>
                  </a:ext>
                </a:extLst>
              </a:tr>
            </a:tbl>
          </a:graphicData>
        </a:graphic>
      </p:graphicFrame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5D6DE5D-BCA0-D048-D3FA-59A1E937DD47}"/>
              </a:ext>
            </a:extLst>
          </p:cNvPr>
          <p:cNvSpPr/>
          <p:nvPr/>
        </p:nvSpPr>
        <p:spPr>
          <a:xfrm>
            <a:off x="10588479" y="6109944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1557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6C0B3-B114-88DA-80BE-CE1400A61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FFA3822B-6A68-4F19-9290-CA9B3C64E56B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069550D-23BF-EB2B-476D-5D54C08EB287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D7AA267-CC37-D50E-56E4-0CE685559939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C081DFE-C325-A429-5C01-9689E8E13B3C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8B0F8DD-AFF0-D93D-BB23-F024A824DAA8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DA513C4-60C6-9B7F-7F4A-60DAF29AE452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D2FB1CA-07E2-5BD5-67F4-438B917B064E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47" name="Picture 2" descr="Logo">
              <a:extLst>
                <a:ext uri="{FF2B5EF4-FFF2-40B4-BE49-F238E27FC236}">
                  <a16:creationId xmlns:a16="http://schemas.microsoft.com/office/drawing/2014/main" id="{332A78E2-35AF-CB90-FBCA-CE32194278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3E68AFDC-15C1-52CC-8831-421D5F1CCF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1263082"/>
              </p:ext>
            </p:extLst>
          </p:nvPr>
        </p:nvGraphicFramePr>
        <p:xfrm>
          <a:off x="106096" y="452338"/>
          <a:ext cx="240909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1722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243</Words>
  <Application>Microsoft Office PowerPoint</Application>
  <PresentationFormat>Widescreen</PresentationFormat>
  <Paragraphs>159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Mihir Mistry</dc:creator>
  <cp:lastModifiedBy>Mihir Mistry</cp:lastModifiedBy>
  <cp:revision>23</cp:revision>
  <dcterms:created xsi:type="dcterms:W3CDTF">2026-06-09T05:44:59Z</dcterms:created>
  <dcterms:modified xsi:type="dcterms:W3CDTF">2026-06-09T08:41:41Z</dcterms:modified>
</cp:coreProperties>
</file>